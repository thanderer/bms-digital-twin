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880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BMS Digital Twin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3794760"/>
            <a:ext cx="137160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Engineering Summer Semester Project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Otto-von-Guericke-University Magdeburg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Concept Update &amp; SOH Integration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date: 14 May 2026  |  Sprint 2 due: 22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Sprint 1 Recap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3657600" cy="22860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91440" cy="22860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locked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digital twin of a Li-ion pack + BMS. Cause-and-effect learning loop: Input → Process → BMS Logic → Visualization → Result.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657600" cy="22860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417320"/>
            <a:ext cx="91440" cy="22860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defined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block diagram, sensor inputs, electro-thermal coupling. Safety thresholds locked at 45 °C (cooling) and 60 °C (runaway alarm).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1417320"/>
            <a:ext cx="3657600" cy="22860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417320"/>
            <a:ext cx="91440" cy="22860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ready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21031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+ GitHub configured. CEE owns process math; DE/DKE owns Unity build, Blender assets, and UI.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10972800" cy="960120"/>
          </a:xfrm>
          <a:prstGeom prst="rect">
            <a:avLst/>
          </a:prstGeom>
          <a:solidFill>
            <a:srgbClr val="EAF5EA"/>
          </a:solidFill>
          <a:ln w="12700">
            <a:solidFill>
              <a:srgbClr val="B7D4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0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status: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deliverables complete. Concept, safety thresholds, Unity + GitHub setup, UI wireframes, and the flow-visualization concept are signed off.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Professor's Feedback — Cell Health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173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concept treats State-of-Charge as a single honest number.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reality, the displayed % understates how degraded the pack actually 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or more cells have a lower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State-of-Health (SOH)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pack’s usable capacity is limited by the weakest cell. A pack reading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SOC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only deliver the energy a healthy pack would deliver at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17320"/>
            <a:ext cx="4754880" cy="4480560"/>
          </a:xfrm>
          <a:prstGeom prst="rect">
            <a:avLst/>
          </a:prstGeom>
          <a:solidFill>
            <a:srgbClr val="FFF6E0"/>
          </a:solidFill>
          <a:ln w="25400">
            <a:solidFill>
              <a:srgbClr val="D6A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417320"/>
            <a:ext cx="109728" cy="4480560"/>
          </a:xfrm>
          <a:prstGeom prst="rect">
            <a:avLst/>
          </a:prstGeom>
          <a:solidFill>
            <a:srgbClr val="D6A02E"/>
          </a:solidFill>
          <a:ln w="12700">
            <a:solidFill>
              <a:srgbClr val="D6A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554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must show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210312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SOH visible in the cell-level view, not just pack-level SOC.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displayed SOC and actual usable SOC.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consequence of that gap: EV driving range that drops as cells degrade.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120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response: </a:t>
            </a:r>
            <a:pPr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SOH math + a 4×4 cell-health heatmap + an EV range estimator that exposes the gap.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22 May 2026 the team will have: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57600" cy="2240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equations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Joule heating, and lumped thermal balance documented and parameterised.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657600" cy="2240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965960"/>
            <a:ext cx="502920" cy="5029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56632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math (NEW)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62272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SOH and weakest-cell-limits-pack rule integrated into the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55864" y="1783080"/>
            <a:ext cx="3657600" cy="2240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8744" y="1965960"/>
            <a:ext cx="502920" cy="5029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33104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range estimator (NEW)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38744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in km wired to SOH-corrected usable capacity; worked example for result card.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3657600" cy="2240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370832"/>
            <a:ext cx="502920" cy="5029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3D assets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505663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pack + 4×4 cell grid + cooling fan authored in Blender, exported as .fbx.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79392" y="4187952"/>
            <a:ext cx="3657600" cy="2240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4370832"/>
            <a:ext cx="502920" cy="5029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56632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scene scaffold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62272" y="505663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.fbx, runs §4 equations in FixedUpdate, placeholder SOH-driven shaders.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55864" y="4187952"/>
            <a:ext cx="3657600" cy="2240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38744" y="4370832"/>
            <a:ext cx="502920" cy="5029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8744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833104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dual gauge + heatmap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38744" y="505663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SOC ring, 16-cell SOH heatmap, range readout in km.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Equations — SOC &amp; Joule Heating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 (SOC)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1097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SOC(t) = SOC₀  −  (1 / Q_nom) · ∫ I(τ) dτ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Discrete:  SOC[k+1] = SOC[k] − (I[k]·Δt) / (3600 · Q_nom)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 counting. Sign convention: discharge current is positive.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Heating &amp; Lumped Thermal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86400" cy="109728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11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Q̇_gen = I² · R_int(SOC, T)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· c_p · dT/dt = Q̇_gen − h · A · (T − T_amb)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c_p = 800 J/(kg·K)   h ≈ 10 W/(m²K) passive, ~40 active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1247120" cy="1463040"/>
          </a:xfrm>
          <a:prstGeom prst="rect">
            <a:avLst/>
          </a:prstGeom>
          <a:solidFill>
            <a:srgbClr val="EAF1FA"/>
          </a:solidFill>
          <a:ln w="12700">
            <a:solidFill>
              <a:srgbClr val="B5C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thresholds (locked from Sprint 1):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 activates at T_pack &gt; 45 °C.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alarm and BMS current cut at T_pack &gt; 60 °C.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ambient range: −10 °C to +50 °C.  Current input: −5C to +5C.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Plett (2015) BMS Vol. I — Battery Modeling;  Bernardi, Pawlikowski &amp; Newman (1985) J. Electrochem. Soc.;  Forgez et al. (2010) J. Power Sources.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SOH &amp; Weakest-Cell Math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j carries an SOH ∈ [0, 1] = current full capacity / nominal. End-of-life at SOH = 0.80 (IEC 62660-1).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7680960" cy="9144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65960"/>
            <a:ext cx="91440" cy="9144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0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SOH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SOH_j = Q_full,j / Q_nom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Q_full,j = current full capacity of cell j after ageing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7680960" cy="9144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91440" cy="9144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72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pack capacity (series string of N cells)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Q_pack_usable = minⱼ ( Q_full,j ),   j = 1 … 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cell sets the ceiling for the whole pack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7680960" cy="9144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069080"/>
            <a:ext cx="91440" cy="9144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23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vs Actual SOC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SOC_actual = SOC_displayed · SOH_pack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SOC_displayed = 80 %, SOH_pack = 0.80  →  SOC_actual = 64 %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cell heatmap (mockup)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2377440"/>
            <a:ext cx="594360" cy="594360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71432" y="2377440"/>
            <a:ext cx="594360" cy="594360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38944" y="2377440"/>
            <a:ext cx="594360" cy="594360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8944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06456" y="2377440"/>
            <a:ext cx="594360" cy="594360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06456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3044952"/>
            <a:ext cx="594360" cy="594360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71432" y="3044952"/>
            <a:ext cx="594360" cy="594360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38944" y="3044952"/>
            <a:ext cx="594360" cy="594360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38944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06456" y="3044952"/>
            <a:ext cx="594360" cy="594360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06456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03920" y="3712464"/>
            <a:ext cx="594360" cy="594360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71432" y="3712464"/>
            <a:ext cx="594360" cy="594360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71432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838944" y="3712464"/>
            <a:ext cx="594360" cy="594360"/>
          </a:xfrm>
          <a:prstGeom prst="rect">
            <a:avLst/>
          </a:prstGeom>
          <a:solidFill>
            <a:srgbClr val="E8C547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38944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506456" y="3712464"/>
            <a:ext cx="594360" cy="594360"/>
          </a:xfrm>
          <a:prstGeom prst="rect">
            <a:avLst/>
          </a:prstGeom>
          <a:solidFill>
            <a:srgbClr val="D87B3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06456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03920" y="4379976"/>
            <a:ext cx="594360" cy="594360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4379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71432" y="4379976"/>
            <a:ext cx="594360" cy="594360"/>
          </a:xfrm>
          <a:prstGeom prst="rect">
            <a:avLst/>
          </a:prstGeom>
          <a:solidFill>
            <a:srgbClr val="E8C547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71432" y="4379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838944" y="4379976"/>
            <a:ext cx="594360" cy="594360"/>
          </a:xfrm>
          <a:prstGeom prst="rect">
            <a:avLst/>
          </a:prstGeom>
          <a:solidFill>
            <a:srgbClr val="D87B3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38944" y="4379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506456" y="4379976"/>
            <a:ext cx="594360" cy="594360"/>
          </a:xfrm>
          <a:prstGeom prst="rect">
            <a:avLst/>
          </a:prstGeom>
          <a:solidFill>
            <a:srgbClr val="B83E2E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06456" y="4379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cell: 0.72  →  pack ceiling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Dubarry, Vuillaume &amp; Liaw (2009) J. Power Sources; Plett (2004) J. Power Sources; IEC 62660-1:2018.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EV Range Estimator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translate the SOC/SOH gap into something the user can feel, the dashboard shows remaining range in km.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943600" cy="96012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91440" cy="9601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energy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E_usable (kWh) = V_nom · Q_pack_usable · SOC_displayed / 1000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V_nom = 350 V (demo pack)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5943600" cy="96012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26080"/>
            <a:ext cx="91440" cy="9601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71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remaining range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(km) = E_usable / c_drive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c_drive = 0.18 kWh/km (mid-size EV)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874520"/>
            <a:ext cx="5074920" cy="4023360"/>
          </a:xfrm>
          <a:prstGeom prst="rect">
            <a:avLst/>
          </a:prstGeom>
          <a:solidFill>
            <a:srgbClr val="FFF6E0"/>
          </a:solidFill>
          <a:ln w="25400">
            <a:solidFill>
              <a:srgbClr val="D6A0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874520"/>
            <a:ext cx="109728" cy="4023360"/>
          </a:xfrm>
          <a:prstGeom prst="rect">
            <a:avLst/>
          </a:prstGeom>
          <a:solidFill>
            <a:srgbClr val="D6A02E"/>
          </a:solidFill>
          <a:ln w="12700">
            <a:solidFill>
              <a:srgbClr val="D6A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demo scenario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pack: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Q_nom = 100 Ah,  V_nom = 350 V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SOC: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pack is healthy (SOH = 1.00):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350 · 100 · 0.80 / 1000 = 28.0 kWh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A6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≈  156 km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weakest cell SOH = 0.72: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Q_usable = 72 Ah,  E = 20.2 kWh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≈  112 km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the user sees:  −44 km on the same 80 % reading.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Larminie &amp; Lowry (2012) Electric Vehicle Technology Explained; Sweeting et al. (2011) Int. J. Sustainable Engineering.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 — Dual Gauge, Heatmap, Range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3383280" cy="41148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383280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SOC Gauge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ring = displayed SOC. Inner ring = SOC_actual. The wedge between them is the SOH penalty the user sees at a glance.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83280" cy="41148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3383280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Cell Heatmap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4114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widget mirrors the 3D cell grid. Green → yellow → red colour mapping. Hovering a tile highlights the matching 3D cell.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66760" y="1417320"/>
            <a:ext cx="3383280" cy="411480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417320"/>
            <a:ext cx="3383280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Readout (km)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4114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range if the pack were healthy (grey), range with current SOH (maroon). Delta is the headline number on the result card.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2057400"/>
            <a:ext cx="2011680" cy="201168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240280"/>
            <a:ext cx="1645920" cy="1645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377440"/>
            <a:ext cx="1371600" cy="1371600"/>
          </a:xfrm>
          <a:prstGeom prst="ellipse">
            <a:avLst/>
          </a:prstGeom>
          <a:solidFill>
            <a:srgbClr val="F3D6D9"/>
          </a:solidFill>
          <a:ln w="12700">
            <a:solidFill>
              <a:srgbClr val="D9A8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256032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actual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76088" y="2286000"/>
            <a:ext cx="384048" cy="384048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2286000"/>
            <a:ext cx="384048" cy="384048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2286000"/>
            <a:ext cx="384048" cy="384048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2286000"/>
            <a:ext cx="384048" cy="384048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2724912"/>
            <a:ext cx="384048" cy="384048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2724912"/>
            <a:ext cx="384048" cy="384048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2724912"/>
            <a:ext cx="384048" cy="384048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2824" y="2724912"/>
            <a:ext cx="384048" cy="384048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76088" y="3163824"/>
            <a:ext cx="384048" cy="384048"/>
          </a:xfrm>
          <a:prstGeom prst="rect">
            <a:avLst/>
          </a:prstGeom>
          <a:solidFill>
            <a:srgbClr val="5BA85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3163824"/>
            <a:ext cx="384048" cy="384048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3163824"/>
            <a:ext cx="384048" cy="384048"/>
          </a:xfrm>
          <a:prstGeom prst="rect">
            <a:avLst/>
          </a:prstGeom>
          <a:solidFill>
            <a:srgbClr val="E8C547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92824" y="3163824"/>
            <a:ext cx="384048" cy="384048"/>
          </a:xfrm>
          <a:prstGeom prst="rect">
            <a:avLst/>
          </a:prstGeom>
          <a:solidFill>
            <a:srgbClr val="D87B3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76088" y="3602736"/>
            <a:ext cx="384048" cy="384048"/>
          </a:xfrm>
          <a:prstGeom prst="rect">
            <a:avLst/>
          </a:prstGeom>
          <a:solidFill>
            <a:srgbClr val="B4D26B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3602736"/>
            <a:ext cx="384048" cy="384048"/>
          </a:xfrm>
          <a:prstGeom prst="rect">
            <a:avLst/>
          </a:prstGeom>
          <a:solidFill>
            <a:srgbClr val="E8C547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3912" y="3602736"/>
            <a:ext cx="384048" cy="384048"/>
          </a:xfrm>
          <a:prstGeom prst="rect">
            <a:avLst/>
          </a:prstGeom>
          <a:solidFill>
            <a:srgbClr val="D87B3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92824" y="3602736"/>
            <a:ext cx="384048" cy="384048"/>
          </a:xfrm>
          <a:prstGeom prst="rect">
            <a:avLst/>
          </a:prstGeom>
          <a:solidFill>
            <a:srgbClr val="B83E2E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Healthy:  156 km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9536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 112 km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778240" y="3383280"/>
            <a:ext cx="2560320" cy="54864"/>
          </a:xfrm>
          <a:prstGeom prst="rect">
            <a:avLst/>
          </a:prstGeom>
          <a:solidFill>
            <a:srgbClr val="D6A02E"/>
          </a:solidFill>
          <a:ln w="12700">
            <a:solidFill>
              <a:srgbClr val="D6A0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83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 km lost to SOH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5715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UI element binds to a controller script (see next slide for the Unity pipeline).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&amp; Unity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5486400" cy="448056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486400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 —  scripted asset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pack shell + 4 × 4 cell grid, scripted with bpy.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named cell_00 … cell_15 — index matches the SOH array in Unity.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 unit (housing + 5-blade rotor, separated for spin animation).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cross-section asset, ready for ion-flow particles in Sprint 4.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export — no GUI interaction needed: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0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blender --background --python build_pack.py -- --rows 4 --cols 4 --out pack.fbx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.fbx with applied transforms, Z-up, 1 unit = 1 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86400" cy="4480560"/>
          </a:xfrm>
          <a:prstGeom prst="rect">
            <a:avLst/>
          </a:prstGeom>
          <a:solidFill>
            <a:srgbClr val="F7F2F4"/>
          </a:solidFill>
          <a:ln w="12700">
            <a:solidFill>
              <a:srgbClr val="E4D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17320"/>
            <a:ext cx="5486400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 —  scene scaffold + scripts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BatteryPackController.cs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owns SOC, SOH and thermal state; runs §4 equations in FixedUpdate.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CellGrid.cs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16-cell array; drives per-cell colour on 3D mesh + heatmap tile.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RangeEstimator.cs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pure function; writes Range_healthy / Range_actual to UI.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BMSLogic.cs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threshold checks (45 °C cooling, 60 °C alarm); raises UI events.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DashboardUI.cs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Unity UI binding; subscribes to controller events.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wired behind an interface so Sprint 4 can swap the lumped thermal model for per-cell coupling without breaking UI.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Task Assignment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676656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Rishi Chalamalasetty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+ Joule heating equations finalised; R_int lookup populated; pack/V_nom defaults agreed.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Avinash Lobo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 math + EV range estimator; produce worked-example numbers for the result card.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Jashkumar Dhameliya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Blender script (build_pack.py): pack shell + 4×4 grid + fan; .fbx export verified in Unity.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Shashi Kumar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scaffold: scene, BatteryPackController, BMSLogic, FixedUpdate loop wired to §4 equations.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Anant Sharma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CellGrid + RangeEstimator; SOH heatmap UI widget; parameter-to-UI mapping validated in-engine.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Charan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DashboardUI: dual SOC gauge, range readout, warning banners; integration test.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due dates leave 22 May for joint dry-run and slide preparation.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Ahead &amp; Risks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359152"/>
            <a:ext cx="10607040" cy="45720"/>
          </a:xfrm>
          <a:prstGeom prst="rect">
            <a:avLst/>
          </a:prstGeom>
          <a:solidFill>
            <a:srgbClr val="DDD3D7"/>
          </a:solidFill>
          <a:ln w="12700">
            <a:solidFill>
              <a:srgbClr val="DDD3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194560"/>
            <a:ext cx="329184" cy="329184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May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2194560"/>
            <a:ext cx="329184" cy="329184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85416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194560"/>
            <a:ext cx="329184" cy="32918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06824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76872" y="2194560"/>
            <a:ext cx="329184" cy="32918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Jul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2194560"/>
            <a:ext cx="329184" cy="32918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219688" y="2194560"/>
            <a:ext cx="329184" cy="32918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71048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71048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for Sprint 2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731520"/>
                <a:gridCol w="914400"/>
                <a:gridCol w="5394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Blender .fbx import breaks naming/scale in 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export with applied transforms; smoke-test import day 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R_int lookup data unavailable in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30 mΩ; flag values as 'placeholder' in the UI.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 demo numbers feel arbitrary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to cited EV consumption; show source on result card.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URP shader compile errors across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URP version in manifest.json; commit cache exclusions.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7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40480" cy="36576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formulas in this deck come from published, citable sources: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coulomb counting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26280" y="1828800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Plett, G. L. (2015). Battery Management Systems, Volume I: Battery Modeling. Artech House.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67712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thermal energy balance (Joule heating)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2267712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Bernardi, D., Pawlikowski, E., &amp; Newman, J. (1985). A general energy balance for battery systems. J. Electrochem. Soc., 132(1), 5–12.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 cell thermal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706624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Forgez, C., Do, D. V., Friedrich, G., Morcrette, M., &amp; Delacourt, C. (2010). Thermal modeling of a cylindrical LiFePO₄/graphite lithium-ion battery. J. Power Sources, 195(9), 2961–2968.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Weakest-cell-limits-pack rule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3145536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Dubarry, M., Vuillaume, N., &amp; Liaw, B. Y. (2009). From single cell model to battery pack simulation for Li-ion batteries. J. Power Sources, 186(2), 500–507.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estimation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3584448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Plett, G. L. (2004). Extended Kalman filtering for BMS, Part 3: State and parameter estimation. J. Power Sources, 134(2), 277–292.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End-of-Life convention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4023360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62660-1:2018 — Secondary lithium-ion cells for the propulsion of electric road vehicles.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462272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range / consumption methodology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4462272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Larminie, J., &amp; Lowry, J. (2012). Electric Vehicle Technology Explained (2nd ed.). Wiley.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901184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energy-consumption ranges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4901184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Sweeting, W. J., Hutchinson, A. R., &amp; Savage, S. D. (2011). Factors affecting EV energy consumption. Int. J. Sustainable Engineering, 4(3), 192–201.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5340096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runaway threshold (≈60 °C)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5340096"/>
            <a:ext cx="7223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Q. et al. (2012). Thermal runaway caused fire and explosion of lithium ion battery. J. Power Sources, 208, 210–224.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8704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defaults (30 mΩ, 350 V, 0.18 kWh/km, 800 J/(kg·K)) are representative values consistent with Plett (2015) and Larminie &amp; Lowry (2012).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SafeCharge: BMS Digital Twin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0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410048" y="3794760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977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open for questions.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Sprint 2  ·  May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SafeCharge Sprint 2</dc:title>
  <dc:subject>PptxGenJS Presentation</dc:subject>
  <dc:creator>Group 6 — SafeCharge</dc:creator>
  <cp:lastModifiedBy>Group 6 — SafeCharge</cp:lastModifiedBy>
  <cp:revision>1</cp:revision>
  <dcterms:created xsi:type="dcterms:W3CDTF">2026-05-14T10:27:15Z</dcterms:created>
  <dcterms:modified xsi:type="dcterms:W3CDTF">2026-05-14T10:27:15Z</dcterms:modified>
</cp:coreProperties>
</file>